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% Hedge Funds Using Algorithm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Adoption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LSTM</c:v>
                  </c:pt>
                  <c:pt idx="2">
                    <c:v>RandomForest</c:v>
                  </c:pt>
                  <c:pt idx="3">
                    <c:v>BERT/NLP</c:v>
                  </c:pt>
                  <c:pt idx="4">
                    <c:v>GNN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61</c:v>
                </c:pt>
                <c:pt idx="2">
                  <c:v>58</c:v>
                </c:pt>
                <c:pt idx="3">
                  <c:v>47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 Finance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Introduction for Econ &amp; Finance Majors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280160"/>
            <a:ext cx="2148840" cy="3200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19385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241401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LLMs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28895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33649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Portfolio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37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Applications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Sogang University  ·  AI × Finance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 for Finance &amp; Economics?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78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of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now generate terabytes daily — tick data, news, satellite imagery, social media. Traditional statistics can't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109728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78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Complexity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relationships between macro factors and asset prices defy classical linear models like OLS and VAR.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109728" cy="1828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0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consistently outperform benchmark models in volatility forecasting, credit scoring, and fraud detection.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10972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90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trading, robo-advisors, and real-time risk systems require models that learn and adapt without human intervention.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not replacing economists — it is giving them a new, more powerful toolkit.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Landscape: Three Core Paradigms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 Regression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/ XGBoost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42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25603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2186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4107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stock return prediction, fraud detection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77724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777240"/>
            <a:ext cx="27432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777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1856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t-SNE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642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4408" y="3154680"/>
            <a:ext cx="25603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32186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34107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detection, portfolio clustering, anomaly detection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77724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777240"/>
            <a:ext cx="27432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163056" y="777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08776" y="1856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 (DQN)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8776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2642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3154680"/>
            <a:ext cx="25603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208776" y="32186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08776" y="34107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execution, dynamic portfolio rebalancing, market making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fintech applications today rely on Supervised Learning. RL is emerging in trading.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Workflow: From Raw Data to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5544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prices, fundamentals, news, alt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9384" y="2286000"/>
            <a:ext cx="8229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214884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9144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914400"/>
            <a:ext cx="155448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volatility, ratios, text embeddings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75304" y="2286000"/>
            <a:ext cx="8229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14884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9144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914400"/>
            <a:ext cx="155448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algorithm, tune hyperparameters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21224" y="2286000"/>
            <a:ext cx="8229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14884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9144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914400"/>
            <a:ext cx="15544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6072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CV, Sharpe, drawdown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67144" y="2286000"/>
            <a:ext cx="8229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214884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9144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914400"/>
            <a:ext cx="155448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inference, model drift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 Finance: Data leakage is the #1 mistake. Always use past data only to predict future. Walk-forward validation &gt; k-fold CV.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iterative — bad features hurt more than a bad model choice.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 &amp; Their Finance Applications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530352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forecasting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Interpretable,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Probabilities, auditable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handles NaN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State-of-art tabular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/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 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long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spillover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network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unstructured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760720" y="777240"/>
          <a:ext cx="3108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Adapted from survey data on ML adoption in asset management (2022-2024 estimates).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Neural Networks for Finance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Neural Network Learns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533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features: price, volume, ratios, sentiment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947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nonlinear patterns automatically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542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return, risk score, buy/sell signal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136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weights to minimize prediction 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finds the best parameter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777240"/>
            <a:ext cx="4434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777240"/>
            <a:ext cx="77724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7772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850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11247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pattern recognition from candlestick images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1764792"/>
            <a:ext cx="4434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764792"/>
            <a:ext cx="777240" cy="868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76479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1837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11226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price &amp; macro time-series forecasting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2752344"/>
            <a:ext cx="4434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2752344"/>
            <a:ext cx="77724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2752344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825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Network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0998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sentiment, cross-asset correlation modeling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0" y="3739896"/>
            <a:ext cx="4434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0" y="3739896"/>
            <a:ext cx="7772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3739896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3813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40873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spillover, sector contagion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LSTMs and Transformers are the most widely used in quantitative finance today.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Sentiment Analysis in Finance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meeting minutes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transcripts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 (Reuters, Bloomberg)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/ Twitter / StockTwits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203911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67128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67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6243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cleaning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900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 (VADER, FinBERT)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(LDA / BERTopic)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342900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57016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57016"/>
            <a:ext cx="4114800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5570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Signal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142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/ Bear sentiment index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1970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Hawkish / Dovish Fed signal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3799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predictor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5628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Market-moving event detector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777240"/>
            <a:ext cx="4206240" cy="192024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FinBERT: Finance-Specific Language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10-K filings, Reuters financial news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generic BERT on financial text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news as: Positive / Negative / Neutral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2295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hedge fund sentiment dashboards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28803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944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Fed Tone Detection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337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Committee seeks to achieve maximum employment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inflation at the rate of 2 percent."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041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Score: Neutral (0.72)  →  Dovish Index: –0.12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alpha: studies show central bank text sentiment predicts 10-year yield moves with significance.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Time Series: Stock &amp; Macro Forecasting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vs ML Forecasting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31920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807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13441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Interpretable, closed-form CI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17320" y="16367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Linear only, manual order selection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39319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665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029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Multi-variable, Granger causality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17320" y="2322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Curse of dimensionality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3931920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523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Nonlinear, long memory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17320" y="30083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Black box, needs lots of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39319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4381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Transformer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34015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SOTA on tabular time series, interpretable attention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17320" y="36941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 to train, large compute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069080"/>
            <a:ext cx="3931920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1239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(lag features)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17320" y="40873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Fast, robust, works well in practice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17320" y="43799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Doesn't capture temporal order natively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777240"/>
            <a:ext cx="4343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77724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12161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past window, test on next. Mimics real trading. Prevents leakage from future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2103120"/>
            <a:ext cx="4343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103120"/>
            <a:ext cx="109728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Tips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81728" y="25420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 (not prices), rolling vol, RSI, macro surprises, earnings revision momentum.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429000"/>
            <a:ext cx="4343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3429000"/>
            <a:ext cx="109728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681728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81728" y="38679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returns: IC (Information Coefficient), Sharpe. For classification: AUC-ROC, precision-recall. NOT just RMSE.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predicting direction (up/down) is often more useful than predicting exact price level.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 Portfolio Management &amp; Risk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Portfolio Construction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factor models (beyond Fama-French)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estimation via RMT + 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with ML views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Regime-conditional allocation (HMM + RL)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206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77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Risk Modeling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Value-at-Risk via quantile regression forests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with GAN-generated scenarios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estimation (Extreme Value Theory + NN)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risk: GNN contagion models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62072"/>
            <a:ext cx="4206240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862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Factor Discovery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/ Elastic Net for factor selection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730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alpha factors from price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factors from corporate disclosures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data: satellite, credit card, ESG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62072"/>
            <a:ext cx="420624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62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Execution &amp; Trading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410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execution: Almgren-Chriss + RL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730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impact prediction with LSTM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4050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dynamics modeling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pattern detection with CNN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portfolio management is increasingly a hybrid of classical MPT and ML-driven signal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Generative AI: The New Frontier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$900B+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finance market by 2030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804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exploring GenAI in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804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research time (JPMorgan pilot)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03720" y="804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productivity gain (estimates)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274320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earnings report summaries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990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10-K/10-Q risk factor 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93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narrative generation from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9959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analyst note drafting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1920240"/>
            <a:ext cx="274320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920240"/>
            <a:ext cx="274320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Advisory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24871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Robo-advisor natural language interface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90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explanation in plain English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493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query resolution (wealth mgmt)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9959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Q&amp;A (RAG over compliance docs)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920240"/>
            <a:ext cx="274320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192024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163056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Model Generation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8776" y="24871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backtesting 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08776" y="2990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generation for financial DBs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08776" y="349300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documentation 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08776" y="39959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generation (Bloomberg, Excel)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LLMs hallucinate. Always validate outputs with ground truth data sources before trading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Biases &amp; Ethical Considerations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41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ML Mistakes in Finance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3977640" cy="51206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07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future information in training. E.g., using next-day close in features.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39776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836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 set. 1000 features, 200 samples = guaranteed overfit.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3977640" cy="51206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97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only on stocks that still exist ignores delisted losers.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008376"/>
            <a:ext cx="39776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358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data (earnings) has reporting lag — use 'as-of' databases.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3977640" cy="51206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11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time series regimes change. Yesterday's model may fail tomorrow.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3977640" cy="5120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87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398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1000 strategies finds false positives. Multiple testing correction required.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777240"/>
            <a:ext cx="109728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8686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12344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credit models can perpetuate racial / gender bias from historical loan data. Disparate impact testing is required in many jurisdictions.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121408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121408"/>
            <a:ext cx="109728" cy="1234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2128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57860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and Basel require model interpretability. SHAP, LIME, and attention maps help open the 'black box' for regulators.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465576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465576"/>
            <a:ext cx="10972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5570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392277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funds use similar ML signals, they may trade simultaneously, amplifying crashes. Flash Crash 2010 as a warning.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quant is 90% statistician, 10% programmer — skepticism about results is a virtue, not a weakness.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Started: Python for ML in Finance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3258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941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yfinance, wrds, OpenBB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132588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087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scikit-learn, XGBoost, LightGBM, CatBoost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1325880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21284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2350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PyTorch, TensorFlow/Keras, Hugging 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16936"/>
            <a:ext cx="132588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1693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63040" y="30540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Backtrader, vectorbt, zipline-reloaded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21024"/>
            <a:ext cx="132588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621024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3040" y="37581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matplotlib, plotly, seaborn, streamlit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160520" cy="4023360"/>
          </a:xfrm>
          <a:prstGeom prst="rect">
            <a:avLst/>
          </a:prstGeom>
          <a:solidFill>
            <a:srgbClr val="1E293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850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next-day return with XGBoost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1704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yfinance as yf, xgboost as xgb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417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as pd, numpy as np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911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yf.download('AAPL', start='2020-01-01')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1579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'ret'] = df['Close'].pct_change()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4048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'lag1'] = df['ret'].shift(1)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6517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'vol'] = df['ret'].rolling(20).std()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28986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dropna(inplace=True)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3924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df[['lag1', 'vol']]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6393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(df['ret'] &gt; 0).astype(int)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133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xgb.XGBClassifier()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3799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fit(X[:-60], y[:-60])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6268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model.predict(X[-60:])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 with yfinance + scikit-learn. Graduate to PyTorch when you need custom architectures.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Paths: Where ML Meets Finance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868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$150K–$500K+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Funds, Investment Banks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Python/R, statistics, 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research, backtesting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pricing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77240"/>
            <a:ext cx="4206240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7772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868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$130K–$350K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307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Banks, Crypto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MLOps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systems, Kafka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276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deployment, AWS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62072"/>
            <a:ext cx="4206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862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Scientist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9535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$100K–$220K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92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Regulators, Insurance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85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survival models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361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stress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8620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62072"/>
            <a:ext cx="420624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862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Product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Data Analyst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29535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$80K–$180K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392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Payments, WealthTech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Python, dashboards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023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testing, funnel analysis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361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for customer insights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ranges are USD estimates for US market (2024). Korea KRW equivalents vary; Tier-1 quant roles at domestic asset managers: ₩100M–₩300M+.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138160" cy="66751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66928" cy="667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66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extends — not replaces — classical econometrics. Both toolkits are essential.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138160" cy="66751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566928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64792"/>
            <a:ext cx="566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764792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&gt; model complexity. Clean, leakage-free features beat fancy algorithms.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138160" cy="66751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23744"/>
            <a:ext cx="566928" cy="66751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23744"/>
            <a:ext cx="566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523744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evaluation metrics. Sharpe and IC matter more than RMSE in finance.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8138160" cy="66751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82696"/>
            <a:ext cx="566928" cy="6675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82696"/>
            <a:ext cx="566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282696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 for regulators, clients, and your own understanding.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8138160" cy="66751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41648"/>
            <a:ext cx="566928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41648"/>
            <a:ext cx="566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041648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transforming financial research workflows — start exploring them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Economics &amp; Finance</dc:title>
  <dc:subject>PptxGenJS Presentation</dc:subject>
  <dc:creator>WWAI / Sogang University</dc:creator>
  <cp:lastModifiedBy>WWAI / Sogang University</cp:lastModifiedBy>
  <cp:revision>1</cp:revision>
  <dcterms:created xsi:type="dcterms:W3CDTF">2026-03-26T23:47:32Z</dcterms:created>
  <dcterms:modified xsi:type="dcterms:W3CDTF">2026-03-26T23:47:32Z</dcterms:modified>
</cp:coreProperties>
</file>